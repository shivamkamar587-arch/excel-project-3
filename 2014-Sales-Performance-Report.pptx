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7772400" cy="10058400"/>
  <p:notesSz cx="10058400" cy="7772400"/>
  <p:embeddedFontLst>
    <p:embeddedFont>
      <p:font typeface="Big Shoulders ExtraBold"/>
      <p:regular r:id="rId201314"/>
    </p:embeddedFont>
    <p:embeddedFont>
      <p:font typeface="Big Shoulders Black"/>
      <p:regular r:id="rId201315"/>
    </p:embeddedFont>
    <p:embeddedFont>
      <p:font typeface="Newsreader"/>
      <p:regular r:id="rId201316"/>
    </p:embeddedFont>
    <p:embeddedFont>
      <p:font typeface="Newsreader Medium"/>
      <p:regular r:id="rId201317"/>
    </p:embeddedFont>
    <p:embeddedFont>
      <p:font typeface="Newsreader Bold"/>
      <p:regular r:id="rId201318"/>
    </p:embeddedFont>
    <p:embeddedFont>
      <p:font typeface="Newsreader ExtraBold"/>
      <p:regular r:id="rId201319"/>
    </p:embeddedFont>
    <p:embeddedFont>
      <p:font typeface="Sofia Sans Semi Condensed"/>
      <p:regular r:id="rId201320"/>
    </p:embeddedFont>
    <p:embeddedFont>
      <p:font typeface="Sofia Sans Semi Condensed Bold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total: ₹18,307 in 2014. The report then shows where sales came from, when they moved, and what leadership should investigate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total is concentrated: Beer and Fruit Cocktail are the clear primary drivers. Chocolate and Chocolate Biscuits Mix form the smaller long tail, so focus and concentration risk sit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bars to make the concentration visible. Beer leads at ₹7,994, followed by Fruit Cocktail at ₹6,942. The one-rupee difference between visible bars and the dashboard total is a display or rounding note, not a new estimate.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June is the clear peak at ₹5,000, followed by a sharp fall in July. November shows a second rise to ₹4,000, while the near-zero months need validation before they are treated as true demand signals.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sequence: protect the winners, understand the spikes, validate the low months, and give the smaller products a focused growth plan. Keep the limitation visible: one dashboard snapshot cannot support trend explanations or salesperson-level conclusions.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9"/>
            <a:ext cx="7772400" cy="10057198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7580" y="97593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69"/>
            <a:ext cx="7772337" cy="6704799"/>
          </a:xfrm>
          <a:prstGeom prst="rect">
            <a:avLst/>
          </a:prstGeom>
          <a:solidFill>
            <a:srgbClr val="140F24"/>
          </a:solidFill>
          <a:ln/>
        </p:spPr>
      </p:sp>
      <p:sp>
        <p:nvSpPr>
          <p:cNvPr id="3" name="Text 1"/>
          <p:cNvSpPr/>
          <p:nvPr/>
        </p:nvSpPr>
        <p:spPr>
          <a:xfrm>
            <a:off x="507976" y="559271"/>
            <a:ext cx="7145004" cy="166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126" kern="100" dirty="0">
                <a:solidFill>
                  <a:srgbClr val="FFFFFF"/>
                </a:solidFill>
                <a:latin typeface="Sofia Sans Semi Condensed Bold" pitchFamily="34" charset="0"/>
                <a:ea typeface="Sofia Sans Semi Condensed Bold" pitchFamily="34" charset="-122"/>
                <a:cs typeface="Sofia Sans Semi Condensed Bold" pitchFamily="34" charset="-120"/>
              </a:rPr>
              <a:t>2014 · SALES PERFORMANCE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7976" y="2105472"/>
            <a:ext cx="6756384" cy="3047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8000" spc="-80" kern="100" dirty="0">
                <a:solidFill>
                  <a:srgbClr val="FFFFFF"/>
                </a:solidFill>
                <a:latin typeface="Big Shoulders Black" pitchFamily="34" charset="0"/>
                <a:ea typeface="Big Shoulders Black" pitchFamily="34" charset="-122"/>
                <a:cs typeface="Big Shoulders Black" pitchFamily="34" charset="-120"/>
              </a:rPr>
              <a:t>2014 Sales</a:t>
            </a:r>
            <a:endParaRPr lang="en-US" sz="80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8000" spc="-80" kern="100" dirty="0">
                <a:solidFill>
                  <a:srgbClr val="FFFFFF"/>
                </a:solidFill>
                <a:latin typeface="Big Shoulders Black" pitchFamily="34" charset="0"/>
                <a:ea typeface="Big Shoulders Black" pitchFamily="34" charset="-122"/>
                <a:cs typeface="Big Shoulders Black" pitchFamily="34" charset="-120"/>
              </a:rPr>
              <a:t>Performance Report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507976" y="5406358"/>
            <a:ext cx="812788" cy="64636"/>
          </a:xfrm>
          <a:prstGeom prst="roundRect">
            <a:avLst>
              <a:gd name="adj" fmla="val 50006"/>
            </a:avLst>
          </a:prstGeom>
          <a:solidFill>
            <a:srgbClr val="D43026"/>
          </a:solidFill>
          <a:ln/>
        </p:spPr>
      </p:sp>
      <p:sp>
        <p:nvSpPr>
          <p:cNvPr id="6" name="Text 4"/>
          <p:cNvSpPr/>
          <p:nvPr/>
        </p:nvSpPr>
        <p:spPr>
          <a:xfrm>
            <a:off x="507976" y="5702184"/>
            <a:ext cx="6756384" cy="571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An executive readout of total sales, product mix, monthly movement, and management implications from the dashboard snapshot.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7976" y="7086290"/>
            <a:ext cx="7145004" cy="166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126" kern="100" dirty="0">
                <a:solidFill>
                  <a:srgbClr val="1C1633"/>
                </a:solidFill>
                <a:latin typeface="Sofia Sans Semi Condensed Bold" pitchFamily="34" charset="0"/>
                <a:ea typeface="Sofia Sans Semi Condensed Bold" pitchFamily="34" charset="-122"/>
                <a:cs typeface="Sofia Sans Semi Condensed Bold" pitchFamily="34" charset="-120"/>
              </a:rPr>
              <a:t>THE HEADLINE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7976" y="7338635"/>
            <a:ext cx="6756384" cy="1092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8600" spc="-172" kern="100" dirty="0">
                <a:solidFill>
                  <a:srgbClr val="1C1633"/>
                </a:solidFill>
                <a:latin typeface="Big Shoulders Black" pitchFamily="34" charset="0"/>
                <a:ea typeface="Big Shoulders Black" pitchFamily="34" charset="-122"/>
                <a:cs typeface="Big Shoulders Black" pitchFamily="34" charset="-120"/>
              </a:rPr>
              <a:t>₹18,307</a:t>
            </a:r>
            <a:endParaRPr lang="en-US" sz="8600" dirty="0"/>
          </a:p>
        </p:txBody>
      </p:sp>
      <p:sp>
        <p:nvSpPr>
          <p:cNvPr id="9" name="Text 7"/>
          <p:cNvSpPr/>
          <p:nvPr/>
        </p:nvSpPr>
        <p:spPr>
          <a:xfrm>
            <a:off x="507976" y="8643368"/>
            <a:ext cx="7145004" cy="285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84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Total sales for 2014.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7976" y="9259686"/>
            <a:ext cx="7145004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1" kern="100" dirty="0">
                <a:solidFill>
                  <a:srgbClr val="5B5468"/>
                </a:solidFill>
                <a:latin typeface="Sofia Sans Semi Condensed" pitchFamily="34" charset="0"/>
                <a:ea typeface="Sofia Sans Semi Condensed" pitchFamily="34" charset="-122"/>
                <a:cs typeface="Sofia Sans Semi Condensed" pitchFamily="34" charset="-120"/>
              </a:rPr>
              <a:t>Leadership readout · Total sales · Product mix · Monthly movement · Actions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76" y="483061"/>
            <a:ext cx="7145004" cy="166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126" kern="100" dirty="0">
                <a:solidFill>
                  <a:srgbClr val="1C1633"/>
                </a:solidFill>
                <a:latin typeface="Sofia Sans Semi Condensed Bold" pitchFamily="34" charset="0"/>
                <a:ea typeface="Sofia Sans Semi Condensed Bold" pitchFamily="34" charset="-122"/>
                <a:cs typeface="Sofia Sans Semi Condensed Bold" pitchFamily="34" charset="-120"/>
              </a:rPr>
              <a:t>01 · TOTAL AND CONCENTRATION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7976" y="735407"/>
            <a:ext cx="6756384" cy="1752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600" spc="-23" kern="100" dirty="0">
                <a:solidFill>
                  <a:srgbClr val="1C1633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Sales reached ₹18,307, with concentration in two products</a:t>
            </a:r>
            <a:pPr algn="l" indent="0" marL="0">
              <a:lnSpc>
                <a:spcPct val="83000"/>
              </a:lnSpc>
              <a:buNone/>
            </a:pPr>
            <a:r>
              <a:rPr lang="en-US" sz="4600" spc="-23" kern="100" dirty="0">
                <a:solidFill>
                  <a:srgbClr val="D43026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07976" y="2740984"/>
            <a:ext cx="812788" cy="64636"/>
          </a:xfrm>
          <a:prstGeom prst="roundRect">
            <a:avLst>
              <a:gd name="adj" fmla="val 50006"/>
            </a:avLst>
          </a:prstGeom>
          <a:solidFill>
            <a:srgbClr val="D430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3688164"/>
            <a:ext cx="7772337" cy="6369603"/>
          </a:xfrm>
          <a:prstGeom prst="rect">
            <a:avLst/>
          </a:prstGeom>
          <a:solidFill>
            <a:srgbClr val="FFC21A"/>
          </a:solidFill>
          <a:ln/>
        </p:spPr>
      </p:sp>
      <p:sp>
        <p:nvSpPr>
          <p:cNvPr id="6" name="Text 4"/>
          <p:cNvSpPr/>
          <p:nvPr/>
        </p:nvSpPr>
        <p:spPr>
          <a:xfrm>
            <a:off x="507976" y="3992876"/>
            <a:ext cx="7145004" cy="166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126" kern="100" dirty="0">
                <a:solidFill>
                  <a:srgbClr val="000000"/>
                </a:solidFill>
                <a:latin typeface="Sofia Sans Semi Condensed Bold" pitchFamily="34" charset="0"/>
                <a:ea typeface="Sofia Sans Semi Condensed Bold" pitchFamily="34" charset="-122"/>
                <a:cs typeface="Sofia Sans Semi Condensed Bold" pitchFamily="34" charset="-120"/>
              </a:rPr>
              <a:t>TOTAL SALES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7976" y="4245222"/>
            <a:ext cx="6756384" cy="116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9200" spc="-184" kern="100" dirty="0">
                <a:solidFill>
                  <a:srgbClr val="000000"/>
                </a:solidFill>
                <a:latin typeface="Big Shoulders Black" pitchFamily="34" charset="0"/>
                <a:ea typeface="Big Shoulders Black" pitchFamily="34" charset="-122"/>
                <a:cs typeface="Big Shoulders Black" pitchFamily="34" charset="-120"/>
              </a:rPr>
              <a:t>₹18,307</a:t>
            </a:r>
            <a:endParaRPr lang="en-US" sz="9200" dirty="0"/>
          </a:p>
        </p:txBody>
      </p:sp>
      <p:sp>
        <p:nvSpPr>
          <p:cNvPr id="8" name="Text 6"/>
          <p:cNvSpPr/>
          <p:nvPr/>
        </p:nvSpPr>
        <p:spPr>
          <a:xfrm>
            <a:off x="507976" y="5626165"/>
            <a:ext cx="7145004" cy="285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for 2014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7976" y="6267337"/>
            <a:ext cx="3378160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1" kern="100" dirty="0">
                <a:solidFill>
                  <a:srgbClr val="000000"/>
                </a:solidFill>
                <a:latin typeface="Sofia Sans Semi Condensed" pitchFamily="34" charset="0"/>
                <a:ea typeface="Sofia Sans Semi Condensed" pitchFamily="34" charset="-122"/>
                <a:cs typeface="Sofia Sans Semi Condensed" pitchFamily="34" charset="-120"/>
              </a:rPr>
              <a:t>Primary driver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976" y="6646361"/>
            <a:ext cx="3225786" cy="32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spc="-10" kern="100" dirty="0">
                <a:solidFill>
                  <a:srgbClr val="000000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Beer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7976" y="7095207"/>
            <a:ext cx="3225786" cy="761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000" spc="-120" kern="100" dirty="0">
                <a:solidFill>
                  <a:srgbClr val="000000"/>
                </a:solidFill>
                <a:latin typeface="Big Shoulders Black" pitchFamily="34" charset="0"/>
                <a:ea typeface="Big Shoulders Black" pitchFamily="34" charset="-122"/>
                <a:cs typeface="Big Shoulders Black" pitchFamily="34" charset="-120"/>
              </a:rPr>
              <a:t>₹7,994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4038511" y="6267337"/>
            <a:ext cx="3225850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1" kern="100" dirty="0">
                <a:solidFill>
                  <a:srgbClr val="000000"/>
                </a:solidFill>
                <a:latin typeface="Sofia Sans Semi Condensed" pitchFamily="34" charset="0"/>
                <a:ea typeface="Sofia Sans Semi Condensed" pitchFamily="34" charset="-122"/>
                <a:cs typeface="Sofia Sans Semi Condensed" pitchFamily="34" charset="-120"/>
              </a:rPr>
              <a:t>Primary driver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38511" y="6646361"/>
            <a:ext cx="3225850" cy="32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spc="-10" kern="100" dirty="0">
                <a:solidFill>
                  <a:srgbClr val="000000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Fruit Cocktail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038511" y="7095207"/>
            <a:ext cx="3225850" cy="761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000" spc="-120" kern="100" dirty="0">
                <a:solidFill>
                  <a:srgbClr val="000000"/>
                </a:solidFill>
                <a:latin typeface="Big Shoulders Black" pitchFamily="34" charset="0"/>
                <a:ea typeface="Big Shoulders Black" pitchFamily="34" charset="-122"/>
                <a:cs typeface="Big Shoulders Black" pitchFamily="34" charset="-120"/>
              </a:rPr>
              <a:t>₹6,942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507976" y="8212547"/>
            <a:ext cx="7145004" cy="247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ewsreader Bold" pitchFamily="34" charset="0"/>
                <a:ea typeface="Newsreader Bold" pitchFamily="34" charset="-122"/>
                <a:cs typeface="Newsreader Bold" pitchFamily="34" charset="-120"/>
              </a:rPr>
              <a:t>Long tail: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Chocolate at ₹3,022 and Chocolate Biscuits Mix at ₹350.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976" y="8650578"/>
            <a:ext cx="675638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1" kern="100" dirty="0">
                <a:solidFill>
                  <a:srgbClr val="000000"/>
                </a:solidFill>
                <a:latin typeface="Sofia Sans Semi Condensed" pitchFamily="34" charset="0"/>
                <a:ea typeface="Sofia Sans Semi Condensed" pitchFamily="34" charset="-122"/>
                <a:cs typeface="Sofia Sans Semi Condensed" pitchFamily="34" charset="-120"/>
              </a:rPr>
              <a:t>Dashboard snapshot. Leadership implication: performance depends heavily on the two leading products, creating both a clear focus area and concentration risk.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78040" y="6089620"/>
            <a:ext cx="16192" cy="1945210"/>
          </a:xfrm>
          <a:prstGeom prst="rect">
            <a:avLst/>
          </a:prstGeom>
          <a:solidFill>
            <a:srgbClr val="1C1633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76" y="457700"/>
            <a:ext cx="7145004" cy="166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126" kern="100" dirty="0">
                <a:solidFill>
                  <a:srgbClr val="1C1633"/>
                </a:solidFill>
                <a:latin typeface="Sofia Sans Semi Condensed Bold" pitchFamily="34" charset="0"/>
                <a:ea typeface="Sofia Sans Semi Condensed Bold" pitchFamily="34" charset="-122"/>
                <a:cs typeface="Sofia Sans Semi Condensed Bold" pitchFamily="34" charset="-120"/>
              </a:rPr>
              <a:t>02 · PRODUCT MIX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7976" y="710046"/>
            <a:ext cx="6756384" cy="2336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600" spc="-23" kern="100" dirty="0">
                <a:solidFill>
                  <a:srgbClr val="1C1633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Beer and Fruit Cocktail generated roughly four-fifths of visible product sales</a:t>
            </a:r>
            <a:pPr algn="l" indent="0" marL="0">
              <a:lnSpc>
                <a:spcPct val="83000"/>
              </a:lnSpc>
              <a:buNone/>
            </a:pPr>
            <a:r>
              <a:rPr lang="en-US" sz="4600" spc="-23" kern="100" dirty="0">
                <a:solidFill>
                  <a:srgbClr val="D43026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07976" y="3299748"/>
            <a:ext cx="812788" cy="64636"/>
          </a:xfrm>
          <a:prstGeom prst="roundRect">
            <a:avLst>
              <a:gd name="adj" fmla="val 50006"/>
            </a:avLst>
          </a:prstGeom>
          <a:solidFill>
            <a:srgbClr val="D4302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76" y="3709857"/>
            <a:ext cx="6756384" cy="355554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7976" y="7496335"/>
            <a:ext cx="812788" cy="64636"/>
          </a:xfrm>
          <a:prstGeom prst="roundRect">
            <a:avLst>
              <a:gd name="adj" fmla="val 50006"/>
            </a:avLst>
          </a:prstGeom>
          <a:solidFill>
            <a:srgbClr val="D43026"/>
          </a:solidFill>
          <a:ln/>
        </p:spPr>
      </p:sp>
      <p:sp>
        <p:nvSpPr>
          <p:cNvPr id="7" name="Text 4"/>
          <p:cNvSpPr/>
          <p:nvPr/>
        </p:nvSpPr>
        <p:spPr>
          <a:xfrm>
            <a:off x="507976" y="7963617"/>
            <a:ext cx="6756384" cy="32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spc="-10" kern="100" dirty="0">
                <a:solidFill>
                  <a:srgbClr val="1C1633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Beer and Fruit Cocktail dominate the visible product mix.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7976" y="8441049"/>
            <a:ext cx="6756384" cy="495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E284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visible product bars sum to ₹18,308 because of a one-rupee rounding or display difference versus the dashboard total of ₹18,307.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7976" y="9126683"/>
            <a:ext cx="7145004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1" kern="100" dirty="0">
                <a:solidFill>
                  <a:srgbClr val="5B5468"/>
                </a:solidFill>
                <a:latin typeface="Sofia Sans Semi Condensed" pitchFamily="34" charset="0"/>
                <a:ea typeface="Sofia Sans Semi Condensed" pitchFamily="34" charset="-122"/>
                <a:cs typeface="Sofia Sans Semi Condensed" pitchFamily="34" charset="-120"/>
              </a:rPr>
              <a:t>Sales by product · Dashboard snapshot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164043" y="9729213"/>
            <a:ext cx="539729" cy="1999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E284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76" y="457700"/>
            <a:ext cx="7145004" cy="166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126" kern="100" dirty="0">
                <a:solidFill>
                  <a:srgbClr val="1C1633"/>
                </a:solidFill>
                <a:latin typeface="Sofia Sans Semi Condensed Bold" pitchFamily="34" charset="0"/>
                <a:ea typeface="Sofia Sans Semi Condensed Bold" pitchFamily="34" charset="-122"/>
                <a:cs typeface="Sofia Sans Semi Condensed Bold" pitchFamily="34" charset="-120"/>
              </a:rPr>
              <a:t>03 · MONTHLY MOVEMENT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7976" y="710046"/>
            <a:ext cx="6756384" cy="1752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600" spc="-23" kern="100" dirty="0">
                <a:solidFill>
                  <a:srgbClr val="1C1633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June was the peak month, while the year remained uneven</a:t>
            </a:r>
            <a:pPr algn="l" indent="0" marL="0">
              <a:lnSpc>
                <a:spcPct val="83000"/>
              </a:lnSpc>
              <a:buNone/>
            </a:pPr>
            <a:r>
              <a:rPr lang="en-US" sz="4600" spc="-23" kern="100" dirty="0">
                <a:solidFill>
                  <a:srgbClr val="D43026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07976" y="2715623"/>
            <a:ext cx="812788" cy="64636"/>
          </a:xfrm>
          <a:prstGeom prst="roundRect">
            <a:avLst>
              <a:gd name="adj" fmla="val 50006"/>
            </a:avLst>
          </a:prstGeom>
          <a:solidFill>
            <a:srgbClr val="D4302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76" y="3011449"/>
            <a:ext cx="6756384" cy="3631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7976" y="6985984"/>
            <a:ext cx="2252086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1" kern="100" dirty="0">
                <a:solidFill>
                  <a:srgbClr val="5B5468"/>
                </a:solidFill>
                <a:latin typeface="Sofia Sans Semi Condensed" pitchFamily="34" charset="0"/>
                <a:ea typeface="Sofia Sans Semi Condensed" pitchFamily="34" charset="-122"/>
                <a:cs typeface="Sofia Sans Semi Condensed" pitchFamily="34" charset="-120"/>
              </a:rPr>
              <a:t>Peak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976" y="7365008"/>
            <a:ext cx="2099712" cy="32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spc="-10" kern="100" dirty="0">
                <a:solidFill>
                  <a:srgbClr val="1C1633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June · ₹5,000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912436" y="6985984"/>
            <a:ext cx="2099775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1" kern="100" dirty="0">
                <a:solidFill>
                  <a:srgbClr val="5B5468"/>
                </a:solidFill>
                <a:latin typeface="Sofia Sans Semi Condensed" pitchFamily="34" charset="0"/>
                <a:ea typeface="Sofia Sans Semi Condensed" pitchFamily="34" charset="-122"/>
                <a:cs typeface="Sofia Sans Semi Condensed" pitchFamily="34" charset="-120"/>
              </a:rPr>
              <a:t>Recovery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912436" y="7365008"/>
            <a:ext cx="1947401" cy="650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spc="-10" kern="100" dirty="0">
                <a:solidFill>
                  <a:srgbClr val="1C1633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November · ₹4,000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164585" y="6985984"/>
            <a:ext cx="2099775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1" kern="100" dirty="0">
                <a:solidFill>
                  <a:srgbClr val="5B5468"/>
                </a:solidFill>
                <a:latin typeface="Sofia Sans Semi Condensed" pitchFamily="34" charset="0"/>
                <a:ea typeface="Sofia Sans Semi Condensed" pitchFamily="34" charset="-122"/>
                <a:cs typeface="Sofia Sans Semi Condensed" pitchFamily="34" charset="-120"/>
              </a:rPr>
              <a:t>Low points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164585" y="7365008"/>
            <a:ext cx="2099775" cy="32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spc="-10" kern="100" dirty="0">
                <a:solidFill>
                  <a:srgbClr val="1C1633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Apr · May · Jul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07976" y="8205590"/>
            <a:ext cx="675638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1" kern="100" dirty="0">
                <a:solidFill>
                  <a:srgbClr val="5B5468"/>
                </a:solidFill>
                <a:latin typeface="Sofia Sans Semi Condensed" pitchFamily="34" charset="0"/>
                <a:ea typeface="Sofia Sans Semi Condensed" pitchFamily="34" charset="-122"/>
                <a:cs typeface="Sofia Sans Semi Condensed" pitchFamily="34" charset="-120"/>
              </a:rPr>
              <a:t>April, May, and July are displayed as 0k; these may represent very small values rounded to 0k. February has no visible labeled point in the screenshot. Dashboard snapshot.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51966" y="6833628"/>
            <a:ext cx="16192" cy="1181533"/>
          </a:xfrm>
          <a:prstGeom prst="rect">
            <a:avLst/>
          </a:prstGeom>
          <a:solidFill>
            <a:srgbClr val="1C1633"/>
          </a:solidFill>
          <a:ln/>
        </p:spPr>
      </p:sp>
      <p:sp>
        <p:nvSpPr>
          <p:cNvPr id="14" name="Shape 11"/>
          <p:cNvSpPr/>
          <p:nvPr/>
        </p:nvSpPr>
        <p:spPr>
          <a:xfrm>
            <a:off x="5004115" y="6833628"/>
            <a:ext cx="16192" cy="1181533"/>
          </a:xfrm>
          <a:prstGeom prst="rect">
            <a:avLst/>
          </a:prstGeom>
          <a:solidFill>
            <a:srgbClr val="1C1633"/>
          </a:solidFill>
          <a:ln/>
        </p:spPr>
      </p:sp>
      <p:sp>
        <p:nvSpPr>
          <p:cNvPr id="15" name="Text 12"/>
          <p:cNvSpPr/>
          <p:nvPr/>
        </p:nvSpPr>
        <p:spPr>
          <a:xfrm>
            <a:off x="7164043" y="9729213"/>
            <a:ext cx="539729" cy="1999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E284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69"/>
            <a:ext cx="7772337" cy="3017141"/>
          </a:xfrm>
          <a:prstGeom prst="rect">
            <a:avLst/>
          </a:prstGeom>
          <a:solidFill>
            <a:srgbClr val="140F24"/>
          </a:solidFill>
          <a:ln/>
        </p:spPr>
      </p:sp>
      <p:sp>
        <p:nvSpPr>
          <p:cNvPr id="3" name="Text 1"/>
          <p:cNvSpPr/>
          <p:nvPr/>
        </p:nvSpPr>
        <p:spPr>
          <a:xfrm>
            <a:off x="507976" y="483061"/>
            <a:ext cx="7145004" cy="166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126" kern="100" dirty="0">
                <a:solidFill>
                  <a:srgbClr val="FFFFFF"/>
                </a:solidFill>
                <a:latin typeface="Sofia Sans Semi Condensed Bold" pitchFamily="34" charset="0"/>
                <a:ea typeface="Sofia Sans Semi Condensed Bold" pitchFamily="34" charset="-122"/>
                <a:cs typeface="Sofia Sans Semi Condensed Bold" pitchFamily="34" charset="-120"/>
              </a:rPr>
              <a:t>04 · MANAGEMENT IMPLICATIONS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7976" y="735407"/>
            <a:ext cx="6756384" cy="1168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600" spc="-23" kern="100" dirty="0">
                <a:solidFill>
                  <a:srgbClr val="FFFFFF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Prioritize the winners, then investigate the volatility</a:t>
            </a:r>
            <a:pPr algn="l" indent="0" marL="0">
              <a:lnSpc>
                <a:spcPct val="83000"/>
              </a:lnSpc>
              <a:buNone/>
            </a:pPr>
            <a:r>
              <a:rPr lang="en-US" sz="4600" spc="-23" kern="100" dirty="0">
                <a:solidFill>
                  <a:srgbClr val="FFC21A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.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07976" y="2156858"/>
            <a:ext cx="812788" cy="64636"/>
          </a:xfrm>
          <a:prstGeom prst="roundRect">
            <a:avLst>
              <a:gd name="adj" fmla="val 50006"/>
            </a:avLst>
          </a:prstGeom>
          <a:solidFill>
            <a:srgbClr val="FFC21A"/>
          </a:solidFill>
          <a:ln/>
        </p:spPr>
      </p:sp>
      <p:sp>
        <p:nvSpPr>
          <p:cNvPr id="6" name="Text 4"/>
          <p:cNvSpPr/>
          <p:nvPr/>
        </p:nvSpPr>
        <p:spPr>
          <a:xfrm>
            <a:off x="507976" y="3487426"/>
            <a:ext cx="695455" cy="22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1C1633"/>
                </a:solidFill>
                <a:latin typeface="Newsreader ExtraBold" pitchFamily="34" charset="0"/>
                <a:ea typeface="Newsreader ExtraBold" pitchFamily="34" charset="-122"/>
                <a:cs typeface="Newsreader ExtraBold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7186" y="3474777"/>
            <a:ext cx="6297175" cy="32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spc="-10" kern="100" dirty="0">
                <a:solidFill>
                  <a:srgbClr val="1C1633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Protect Beer and Fruit Cocktail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7186" y="3952210"/>
            <a:ext cx="6297175" cy="247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E284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Prioritize availability and promotion for the two largest visible contributors.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976" y="4517173"/>
            <a:ext cx="695455" cy="22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1C1633"/>
                </a:solidFill>
                <a:latin typeface="Newsreader ExtraBold" pitchFamily="34" charset="0"/>
                <a:ea typeface="Newsreader ExtraBold" pitchFamily="34" charset="-122"/>
                <a:cs typeface="Newsreader ExtraBold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7186" y="4504524"/>
            <a:ext cx="6297175" cy="32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spc="-10" kern="100" dirty="0">
                <a:solidFill>
                  <a:srgbClr val="1C1633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Explain the spikes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7186" y="4981956"/>
            <a:ext cx="6297175" cy="495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E284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Review the causes of the June and November spikes, then test whether the same drivers can be repeated.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976" y="5794521"/>
            <a:ext cx="695455" cy="22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1C1633"/>
                </a:solidFill>
                <a:latin typeface="Newsreader ExtraBold" pitchFamily="34" charset="0"/>
                <a:ea typeface="Newsreader ExtraBold" pitchFamily="34" charset="-122"/>
                <a:cs typeface="Newsreader ExtraBold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7186" y="5781872"/>
            <a:ext cx="6297175" cy="32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spc="-10" kern="100" dirty="0">
                <a:solidFill>
                  <a:srgbClr val="1C1633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Validate the near-zero months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7186" y="6259305"/>
            <a:ext cx="6297175" cy="247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E284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Confirm whether they reflect true demand, missing records, or chart rounding.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976" y="6824268"/>
            <a:ext cx="695455" cy="22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1C1633"/>
                </a:solidFill>
                <a:latin typeface="Newsreader ExtraBold" pitchFamily="34" charset="0"/>
                <a:ea typeface="Newsreader ExtraBold" pitchFamily="34" charset="-122"/>
                <a:cs typeface="Newsreader ExtraBold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7186" y="6811619"/>
            <a:ext cx="6297175" cy="32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spc="-10" kern="100" dirty="0">
                <a:solidFill>
                  <a:srgbClr val="1C1633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Focus the long tail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7186" y="7289051"/>
            <a:ext cx="6297175" cy="495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E284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Set a focused growth plan for Chocolate and Chocolate Biscuits Mix rather than spreading effort evenly across the range.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976" y="8918671"/>
            <a:ext cx="675638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1" kern="100" dirty="0">
                <a:solidFill>
                  <a:srgbClr val="5B5468"/>
                </a:solidFill>
                <a:latin typeface="Sofia Sans Semi Condensed" pitchFamily="34" charset="0"/>
                <a:ea typeface="Sofia Sans Semi Condensed" pitchFamily="34" charset="-122"/>
                <a:cs typeface="Sofia Sans Semi Condensed" pitchFamily="34" charset="-120"/>
              </a:rPr>
              <a:t>This report is based on one dashboard snapshot; trend explanations and salesperson-level conclusions require the underlying data.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976" y="4344073"/>
            <a:ext cx="6756384" cy="16191"/>
          </a:xfrm>
          <a:prstGeom prst="rect">
            <a:avLst/>
          </a:prstGeom>
          <a:solidFill>
            <a:srgbClr val="1C1633"/>
          </a:solidFill>
          <a:ln/>
        </p:spPr>
      </p:sp>
      <p:sp>
        <p:nvSpPr>
          <p:cNvPr id="20" name="Shape 18"/>
          <p:cNvSpPr/>
          <p:nvPr/>
        </p:nvSpPr>
        <p:spPr>
          <a:xfrm>
            <a:off x="507976" y="5621421"/>
            <a:ext cx="6756384" cy="16191"/>
          </a:xfrm>
          <a:prstGeom prst="rect">
            <a:avLst/>
          </a:prstGeom>
          <a:solidFill>
            <a:srgbClr val="1C1633"/>
          </a:solidFill>
          <a:ln/>
        </p:spPr>
      </p:sp>
      <p:sp>
        <p:nvSpPr>
          <p:cNvPr id="21" name="Shape 19"/>
          <p:cNvSpPr/>
          <p:nvPr/>
        </p:nvSpPr>
        <p:spPr>
          <a:xfrm>
            <a:off x="507976" y="6651168"/>
            <a:ext cx="6756384" cy="16191"/>
          </a:xfrm>
          <a:prstGeom prst="rect">
            <a:avLst/>
          </a:prstGeom>
          <a:solidFill>
            <a:srgbClr val="1C163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2026-10-02T14:06:43Z</dcterms:created>
  <dcterms:modified xsi:type="dcterms:W3CDTF">2026-10-02T14:06:43Z</dcterms:modified>
</cp:coreProperties>
</file>